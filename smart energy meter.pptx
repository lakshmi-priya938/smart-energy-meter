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19"/>
  </p:notesMasterIdLst>
  <p:sldIdLst>
    <p:sldId id="283" r:id="rId2"/>
    <p:sldId id="257" r:id="rId3"/>
    <p:sldId id="287" r:id="rId4"/>
    <p:sldId id="302" r:id="rId5"/>
    <p:sldId id="315" r:id="rId6"/>
    <p:sldId id="285" r:id="rId7"/>
    <p:sldId id="286" r:id="rId8"/>
    <p:sldId id="307" r:id="rId9"/>
    <p:sldId id="309" r:id="rId10"/>
    <p:sldId id="317" r:id="rId11"/>
    <p:sldId id="290" r:id="rId12"/>
    <p:sldId id="303" r:id="rId13"/>
    <p:sldId id="310" r:id="rId14"/>
    <p:sldId id="304" r:id="rId15"/>
    <p:sldId id="318" r:id="rId16"/>
    <p:sldId id="319" r:id="rId17"/>
    <p:sldId id="293" r:id="rId18"/>
  </p:sldIdLst>
  <p:sldSz cx="9906000" cy="6858000" type="A4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pos="17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CE325-7DE2-40A0-9098-1C6DB85BB7EC}" v="20" dt="2025-02-01T04:57:47.20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87974" autoAdjust="0"/>
  </p:normalViewPr>
  <p:slideViewPr>
    <p:cSldViewPr>
      <p:cViewPr varScale="1">
        <p:scale>
          <a:sx n="72" d="100"/>
          <a:sy n="72" d="100"/>
        </p:scale>
        <p:origin x="1608" y="67"/>
      </p:cViewPr>
      <p:guideLst>
        <p:guide orient="horz" pos="2880"/>
        <p:guide pos="2160"/>
        <p:guide pos="17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sha S" userId="18ef33326037d1b8" providerId="LiveId" clId="{1EBCE325-7DE2-40A0-9098-1C6DB85BB7EC}"/>
    <pc:docChg chg="undo custSel addSld delSld modSld sldOrd">
      <pc:chgData name="Monisha S" userId="18ef33326037d1b8" providerId="LiveId" clId="{1EBCE325-7DE2-40A0-9098-1C6DB85BB7EC}" dt="2025-01-31T15:49:35.194" v="796" actId="1076"/>
      <pc:docMkLst>
        <pc:docMk/>
      </pc:docMkLst>
      <pc:sldChg chg="modSp mod">
        <pc:chgData name="Monisha S" userId="18ef33326037d1b8" providerId="LiveId" clId="{1EBCE325-7DE2-40A0-9098-1C6DB85BB7EC}" dt="2025-01-31T15:49:22.325" v="793" actId="20577"/>
        <pc:sldMkLst>
          <pc:docMk/>
          <pc:sldMk cId="0" sldId="257"/>
        </pc:sldMkLst>
        <pc:spChg chg="mod">
          <ac:chgData name="Monisha S" userId="18ef33326037d1b8" providerId="LiveId" clId="{1EBCE325-7DE2-40A0-9098-1C6DB85BB7EC}" dt="2025-01-31T15:49:22.325" v="793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Monisha S" userId="18ef33326037d1b8" providerId="LiveId" clId="{1EBCE325-7DE2-40A0-9098-1C6DB85BB7EC}" dt="2025-01-31T15:20:46.104" v="502" actId="20577"/>
        <pc:sldMkLst>
          <pc:docMk/>
          <pc:sldMk cId="0" sldId="283"/>
        </pc:sldMkLst>
        <pc:spChg chg="mod">
          <ac:chgData name="Monisha S" userId="18ef33326037d1b8" providerId="LiveId" clId="{1EBCE325-7DE2-40A0-9098-1C6DB85BB7EC}" dt="2025-01-31T15:16:56.677" v="461" actId="20577"/>
          <ac:spMkLst>
            <pc:docMk/>
            <pc:sldMk cId="0" sldId="283"/>
            <ac:spMk id="6" creationId="{00000000-0000-0000-0000-000000000000}"/>
          </ac:spMkLst>
        </pc:spChg>
        <pc:spChg chg="mod">
          <ac:chgData name="Monisha S" userId="18ef33326037d1b8" providerId="LiveId" clId="{1EBCE325-7DE2-40A0-9098-1C6DB85BB7EC}" dt="2025-01-31T15:20:46.104" v="502" actId="20577"/>
          <ac:spMkLst>
            <pc:docMk/>
            <pc:sldMk cId="0" sldId="283"/>
            <ac:spMk id="10" creationId="{00000000-0000-0000-0000-000000000000}"/>
          </ac:spMkLst>
        </pc:spChg>
      </pc:sldChg>
      <pc:sldChg chg="modSp mod">
        <pc:chgData name="Monisha S" userId="18ef33326037d1b8" providerId="LiveId" clId="{1EBCE325-7DE2-40A0-9098-1C6DB85BB7EC}" dt="2025-01-30T12:48:57.656" v="116" actId="27636"/>
        <pc:sldMkLst>
          <pc:docMk/>
          <pc:sldMk cId="0" sldId="285"/>
        </pc:sldMkLst>
        <pc:spChg chg="mod">
          <ac:chgData name="Monisha S" userId="18ef33326037d1b8" providerId="LiveId" clId="{1EBCE325-7DE2-40A0-9098-1C6DB85BB7EC}" dt="2025-01-30T12:48:57.656" v="116" actId="27636"/>
          <ac:spMkLst>
            <pc:docMk/>
            <pc:sldMk cId="0" sldId="285"/>
            <ac:spMk id="3" creationId="{00000000-0000-0000-0000-000000000000}"/>
          </ac:spMkLst>
        </pc:spChg>
      </pc:sldChg>
      <pc:sldChg chg="modSp mod">
        <pc:chgData name="Monisha S" userId="18ef33326037d1b8" providerId="LiveId" clId="{1EBCE325-7DE2-40A0-9098-1C6DB85BB7EC}" dt="2025-01-31T15:17:58.505" v="483" actId="20577"/>
        <pc:sldMkLst>
          <pc:docMk/>
          <pc:sldMk cId="0" sldId="286"/>
        </pc:sldMkLst>
        <pc:spChg chg="mod">
          <ac:chgData name="Monisha S" userId="18ef33326037d1b8" providerId="LiveId" clId="{1EBCE325-7DE2-40A0-9098-1C6DB85BB7EC}" dt="2025-01-30T12:47:50.399" v="104" actId="123"/>
          <ac:spMkLst>
            <pc:docMk/>
            <pc:sldMk cId="0" sldId="286"/>
            <ac:spMk id="2" creationId="{00000000-0000-0000-0000-000000000000}"/>
          </ac:spMkLst>
        </pc:spChg>
        <pc:spChg chg="mod">
          <ac:chgData name="Monisha S" userId="18ef33326037d1b8" providerId="LiveId" clId="{1EBCE325-7DE2-40A0-9098-1C6DB85BB7EC}" dt="2025-01-30T12:47:45.266" v="102" actId="1076"/>
          <ac:spMkLst>
            <pc:docMk/>
            <pc:sldMk cId="0" sldId="286"/>
            <ac:spMk id="3" creationId="{00000000-0000-0000-0000-000000000000}"/>
          </ac:spMkLst>
        </pc:spChg>
        <pc:spChg chg="mod">
          <ac:chgData name="Monisha S" userId="18ef33326037d1b8" providerId="LiveId" clId="{1EBCE325-7DE2-40A0-9098-1C6DB85BB7EC}" dt="2025-01-31T15:17:58.505" v="483" actId="20577"/>
          <ac:spMkLst>
            <pc:docMk/>
            <pc:sldMk cId="0" sldId="286"/>
            <ac:spMk id="6" creationId="{71AEF75A-D42C-9C82-517E-28C1C40339D6}"/>
          </ac:spMkLst>
        </pc:spChg>
      </pc:sldChg>
      <pc:sldChg chg="ord">
        <pc:chgData name="Monisha S" userId="18ef33326037d1b8" providerId="LiveId" clId="{1EBCE325-7DE2-40A0-9098-1C6DB85BB7EC}" dt="2025-01-31T15:49:23.914" v="795"/>
        <pc:sldMkLst>
          <pc:docMk/>
          <pc:sldMk cId="0" sldId="287"/>
        </pc:sldMkLst>
      </pc:sldChg>
      <pc:sldChg chg="addSp modSp mod">
        <pc:chgData name="Monisha S" userId="18ef33326037d1b8" providerId="LiveId" clId="{1EBCE325-7DE2-40A0-9098-1C6DB85BB7EC}" dt="2025-01-31T15:25:46.480" v="704" actId="123"/>
        <pc:sldMkLst>
          <pc:docMk/>
          <pc:sldMk cId="0" sldId="290"/>
        </pc:sldMkLst>
        <pc:spChg chg="mod">
          <ac:chgData name="Monisha S" userId="18ef33326037d1b8" providerId="LiveId" clId="{1EBCE325-7DE2-40A0-9098-1C6DB85BB7EC}" dt="2025-01-30T12:52:32.978" v="191" actId="1076"/>
          <ac:spMkLst>
            <pc:docMk/>
            <pc:sldMk cId="0" sldId="290"/>
            <ac:spMk id="2" creationId="{00000000-0000-0000-0000-000000000000}"/>
          </ac:spMkLst>
        </pc:spChg>
        <pc:spChg chg="add mod">
          <ac:chgData name="Monisha S" userId="18ef33326037d1b8" providerId="LiveId" clId="{1EBCE325-7DE2-40A0-9098-1C6DB85BB7EC}" dt="2025-01-31T15:25:46.480" v="704" actId="123"/>
          <ac:spMkLst>
            <pc:docMk/>
            <pc:sldMk cId="0" sldId="290"/>
            <ac:spMk id="3" creationId="{DEF93231-AF23-A88A-43BC-6421E8097868}"/>
          </ac:spMkLst>
        </pc:spChg>
        <pc:picChg chg="mod">
          <ac:chgData name="Monisha S" userId="18ef33326037d1b8" providerId="LiveId" clId="{1EBCE325-7DE2-40A0-9098-1C6DB85BB7EC}" dt="2025-01-30T12:52:39.509" v="193" actId="1076"/>
          <ac:picMkLst>
            <pc:docMk/>
            <pc:sldMk cId="0" sldId="290"/>
            <ac:picMk id="9" creationId="{D748BAC7-CBF4-4F4B-CF22-502FE964823F}"/>
          </ac:picMkLst>
        </pc:picChg>
      </pc:sldChg>
      <pc:sldChg chg="modSp mod ord">
        <pc:chgData name="Monisha S" userId="18ef33326037d1b8" providerId="LiveId" clId="{1EBCE325-7DE2-40A0-9098-1C6DB85BB7EC}" dt="2025-01-31T15:49:35.194" v="796" actId="1076"/>
        <pc:sldMkLst>
          <pc:docMk/>
          <pc:sldMk cId="3474519109" sldId="302"/>
        </pc:sldMkLst>
        <pc:graphicFrameChg chg="mod modGraphic">
          <ac:chgData name="Monisha S" userId="18ef33326037d1b8" providerId="LiveId" clId="{1EBCE325-7DE2-40A0-9098-1C6DB85BB7EC}" dt="2025-01-31T15:49:35.194" v="796" actId="1076"/>
          <ac:graphicFrameMkLst>
            <pc:docMk/>
            <pc:sldMk cId="3474519109" sldId="302"/>
            <ac:graphicFrameMk id="3" creationId="{A53CC846-BD9A-89CD-6EA0-3424FC1BC435}"/>
          </ac:graphicFrameMkLst>
        </pc:graphicFrameChg>
      </pc:sldChg>
      <pc:sldChg chg="modSp mod">
        <pc:chgData name="Monisha S" userId="18ef33326037d1b8" providerId="LiveId" clId="{1EBCE325-7DE2-40A0-9098-1C6DB85BB7EC}" dt="2025-01-31T15:27:06.944" v="718" actId="20577"/>
        <pc:sldMkLst>
          <pc:docMk/>
          <pc:sldMk cId="3742148488" sldId="303"/>
        </pc:sldMkLst>
        <pc:spChg chg="mod">
          <ac:chgData name="Monisha S" userId="18ef33326037d1b8" providerId="LiveId" clId="{1EBCE325-7DE2-40A0-9098-1C6DB85BB7EC}" dt="2025-01-31T15:27:06.944" v="718" actId="20577"/>
          <ac:spMkLst>
            <pc:docMk/>
            <pc:sldMk cId="3742148488" sldId="303"/>
            <ac:spMk id="3" creationId="{00000000-0000-0000-0000-000000000000}"/>
          </ac:spMkLst>
        </pc:spChg>
      </pc:sldChg>
      <pc:sldChg chg="modSp mod">
        <pc:chgData name="Monisha S" userId="18ef33326037d1b8" providerId="LiveId" clId="{1EBCE325-7DE2-40A0-9098-1C6DB85BB7EC}" dt="2025-01-31T15:27:38.344" v="727" actId="20577"/>
        <pc:sldMkLst>
          <pc:docMk/>
          <pc:sldMk cId="1460149263" sldId="304"/>
        </pc:sldMkLst>
        <pc:spChg chg="mod">
          <ac:chgData name="Monisha S" userId="18ef33326037d1b8" providerId="LiveId" clId="{1EBCE325-7DE2-40A0-9098-1C6DB85BB7EC}" dt="2025-01-31T15:27:38.344" v="727" actId="20577"/>
          <ac:spMkLst>
            <pc:docMk/>
            <pc:sldMk cId="1460149263" sldId="304"/>
            <ac:spMk id="3" creationId="{00000000-0000-0000-0000-000000000000}"/>
          </ac:spMkLst>
        </pc:spChg>
      </pc:sldChg>
      <pc:sldChg chg="modSp mod">
        <pc:chgData name="Monisha S" userId="18ef33326037d1b8" providerId="LiveId" clId="{1EBCE325-7DE2-40A0-9098-1C6DB85BB7EC}" dt="2025-01-30T12:49:29.470" v="119" actId="2711"/>
        <pc:sldMkLst>
          <pc:docMk/>
          <pc:sldMk cId="4199048634" sldId="307"/>
        </pc:sldMkLst>
        <pc:spChg chg="mod">
          <ac:chgData name="Monisha S" userId="18ef33326037d1b8" providerId="LiveId" clId="{1EBCE325-7DE2-40A0-9098-1C6DB85BB7EC}" dt="2025-01-30T12:49:29.470" v="119" actId="2711"/>
          <ac:spMkLst>
            <pc:docMk/>
            <pc:sldMk cId="4199048634" sldId="307"/>
            <ac:spMk id="4" creationId="{D62F2CFF-74CF-293D-1805-FE89DF1E7410}"/>
          </ac:spMkLst>
        </pc:spChg>
      </pc:sldChg>
      <pc:sldChg chg="addSp modSp mod">
        <pc:chgData name="Monisha S" userId="18ef33326037d1b8" providerId="LiveId" clId="{1EBCE325-7DE2-40A0-9098-1C6DB85BB7EC}" dt="2025-01-31T15:23:28.632" v="578" actId="20577"/>
        <pc:sldMkLst>
          <pc:docMk/>
          <pc:sldMk cId="261661622" sldId="309"/>
        </pc:sldMkLst>
        <pc:spChg chg="add mod">
          <ac:chgData name="Monisha S" userId="18ef33326037d1b8" providerId="LiveId" clId="{1EBCE325-7DE2-40A0-9098-1C6DB85BB7EC}" dt="2025-01-31T15:23:28.632" v="578" actId="20577"/>
          <ac:spMkLst>
            <pc:docMk/>
            <pc:sldMk cId="261661622" sldId="309"/>
            <ac:spMk id="2" creationId="{49AD0D06-E337-A23A-A535-125FCB951CC4}"/>
          </ac:spMkLst>
        </pc:spChg>
        <pc:spChg chg="add mod">
          <ac:chgData name="Monisha S" userId="18ef33326037d1b8" providerId="LiveId" clId="{1EBCE325-7DE2-40A0-9098-1C6DB85BB7EC}" dt="2025-01-30T12:51:22.684" v="165" actId="123"/>
          <ac:spMkLst>
            <pc:docMk/>
            <pc:sldMk cId="261661622" sldId="309"/>
            <ac:spMk id="3" creationId="{5F57A849-8E46-FFD3-69A9-9E9144106A21}"/>
          </ac:spMkLst>
        </pc:spChg>
        <pc:picChg chg="mod modCrop">
          <ac:chgData name="Monisha S" userId="18ef33326037d1b8" providerId="LiveId" clId="{1EBCE325-7DE2-40A0-9098-1C6DB85BB7EC}" dt="2025-01-30T12:51:08.326" v="162" actId="1076"/>
          <ac:picMkLst>
            <pc:docMk/>
            <pc:sldMk cId="261661622" sldId="309"/>
            <ac:picMk id="6" creationId="{00000000-0000-0000-0000-000000000000}"/>
          </ac:picMkLst>
        </pc:picChg>
      </pc:sldChg>
      <pc:sldChg chg="modSp mod">
        <pc:chgData name="Monisha S" userId="18ef33326037d1b8" providerId="LiveId" clId="{1EBCE325-7DE2-40A0-9098-1C6DB85BB7EC}" dt="2025-01-31T15:27:18.428" v="721" actId="20577"/>
        <pc:sldMkLst>
          <pc:docMk/>
          <pc:sldMk cId="2844566183" sldId="310"/>
        </pc:sldMkLst>
        <pc:spChg chg="mod">
          <ac:chgData name="Monisha S" userId="18ef33326037d1b8" providerId="LiveId" clId="{1EBCE325-7DE2-40A0-9098-1C6DB85BB7EC}" dt="2025-01-31T15:27:18.428" v="721" actId="20577"/>
          <ac:spMkLst>
            <pc:docMk/>
            <pc:sldMk cId="2844566183" sldId="310"/>
            <ac:spMk id="3" creationId="{00000000-0000-0000-0000-000000000000}"/>
          </ac:spMkLst>
        </pc:spChg>
      </pc:sldChg>
      <pc:sldChg chg="del">
        <pc:chgData name="Monisha S" userId="18ef33326037d1b8" providerId="LiveId" clId="{1EBCE325-7DE2-40A0-9098-1C6DB85BB7EC}" dt="2025-01-30T12:38:58.013" v="2" actId="47"/>
        <pc:sldMkLst>
          <pc:docMk/>
          <pc:sldMk cId="4042345895" sldId="313"/>
        </pc:sldMkLst>
      </pc:sldChg>
      <pc:sldChg chg="modSp mod">
        <pc:chgData name="Monisha S" userId="18ef33326037d1b8" providerId="LiveId" clId="{1EBCE325-7DE2-40A0-9098-1C6DB85BB7EC}" dt="2025-01-31T15:40:18.912" v="752" actId="123"/>
        <pc:sldMkLst>
          <pc:docMk/>
          <pc:sldMk cId="2862692613" sldId="315"/>
        </pc:sldMkLst>
        <pc:graphicFrameChg chg="mod modGraphic">
          <ac:chgData name="Monisha S" userId="18ef33326037d1b8" providerId="LiveId" clId="{1EBCE325-7DE2-40A0-9098-1C6DB85BB7EC}" dt="2025-01-31T15:40:18.912" v="752" actId="123"/>
          <ac:graphicFrameMkLst>
            <pc:docMk/>
            <pc:sldMk cId="2862692613" sldId="315"/>
            <ac:graphicFrameMk id="3" creationId="{AA296CAE-57A7-7C3A-C0C7-5764DA5C41C5}"/>
          </ac:graphicFrameMkLst>
        </pc:graphicFrameChg>
      </pc:sldChg>
      <pc:sldChg chg="del">
        <pc:chgData name="Monisha S" userId="18ef33326037d1b8" providerId="LiveId" clId="{1EBCE325-7DE2-40A0-9098-1C6DB85BB7EC}" dt="2025-01-30T12:43:58.338" v="87" actId="47"/>
        <pc:sldMkLst>
          <pc:docMk/>
          <pc:sldMk cId="1040743295" sldId="316"/>
        </pc:sldMkLst>
      </pc:sldChg>
      <pc:sldChg chg="addSp modSp mod">
        <pc:chgData name="Monisha S" userId="18ef33326037d1b8" providerId="LiveId" clId="{1EBCE325-7DE2-40A0-9098-1C6DB85BB7EC}" dt="2025-01-31T15:26:12.952" v="713" actId="20577"/>
        <pc:sldMkLst>
          <pc:docMk/>
          <pc:sldMk cId="1211043437" sldId="317"/>
        </pc:sldMkLst>
        <pc:spChg chg="add mod">
          <ac:chgData name="Monisha S" userId="18ef33326037d1b8" providerId="LiveId" clId="{1EBCE325-7DE2-40A0-9098-1C6DB85BB7EC}" dt="2025-01-31T15:26:12.952" v="713" actId="20577"/>
          <ac:spMkLst>
            <pc:docMk/>
            <pc:sldMk cId="1211043437" sldId="317"/>
            <ac:spMk id="2" creationId="{CF03754D-F66F-9C39-E610-2EC64927DEE6}"/>
          </ac:spMkLst>
        </pc:spChg>
        <pc:spChg chg="mod">
          <ac:chgData name="Monisha S" userId="18ef33326037d1b8" providerId="LiveId" clId="{1EBCE325-7DE2-40A0-9098-1C6DB85BB7EC}" dt="2025-01-31T15:23:52.127" v="594" actId="1076"/>
          <ac:spMkLst>
            <pc:docMk/>
            <pc:sldMk cId="1211043437" sldId="317"/>
            <ac:spMk id="4" creationId="{B1199702-8ABA-95D4-A14C-265075BEF805}"/>
          </ac:spMkLst>
        </pc:spChg>
      </pc:sldChg>
      <pc:sldChg chg="modSp mod ord">
        <pc:chgData name="Monisha S" userId="18ef33326037d1b8" providerId="LiveId" clId="{1EBCE325-7DE2-40A0-9098-1C6DB85BB7EC}" dt="2025-01-31T15:33:56.665" v="741" actId="20577"/>
        <pc:sldMkLst>
          <pc:docMk/>
          <pc:sldMk cId="1053480778" sldId="318"/>
        </pc:sldMkLst>
        <pc:spChg chg="mod">
          <ac:chgData name="Monisha S" userId="18ef33326037d1b8" providerId="LiveId" clId="{1EBCE325-7DE2-40A0-9098-1C6DB85BB7EC}" dt="2025-01-30T14:42:55.867" v="449" actId="1076"/>
          <ac:spMkLst>
            <pc:docMk/>
            <pc:sldMk cId="1053480778" sldId="318"/>
            <ac:spMk id="2" creationId="{4FF68471-380A-B378-8381-0CA2173B82BA}"/>
          </ac:spMkLst>
        </pc:spChg>
        <pc:spChg chg="mod">
          <ac:chgData name="Monisha S" userId="18ef33326037d1b8" providerId="LiveId" clId="{1EBCE325-7DE2-40A0-9098-1C6DB85BB7EC}" dt="2025-01-31T15:33:56.665" v="741" actId="20577"/>
          <ac:spMkLst>
            <pc:docMk/>
            <pc:sldMk cId="1053480778" sldId="318"/>
            <ac:spMk id="3" creationId="{9B8DD161-41FE-FD54-08F4-15D32FEFB537}"/>
          </ac:spMkLst>
        </pc:spChg>
      </pc:sldChg>
      <pc:sldChg chg="delSp modSp add mod">
        <pc:chgData name="Monisha S" userId="18ef33326037d1b8" providerId="LiveId" clId="{1EBCE325-7DE2-40A0-9098-1C6DB85BB7EC}" dt="2025-01-31T15:18:51.847" v="495" actId="5793"/>
        <pc:sldMkLst>
          <pc:docMk/>
          <pc:sldMk cId="879504556" sldId="319"/>
        </pc:sldMkLst>
        <pc:spChg chg="mod">
          <ac:chgData name="Monisha S" userId="18ef33326037d1b8" providerId="LiveId" clId="{1EBCE325-7DE2-40A0-9098-1C6DB85BB7EC}" dt="2025-01-31T15:18:51.847" v="495" actId="5793"/>
          <ac:spMkLst>
            <pc:docMk/>
            <pc:sldMk cId="879504556" sldId="319"/>
            <ac:spMk id="3" creationId="{6C928193-2124-3254-8782-6186160ECF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FD0BE2-165E-45B7-8741-691925E33557}" type="datetimeFigureOut">
              <a:rPr lang="en-US" smtClean="0"/>
              <a:pPr/>
              <a:t>3/20/2026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38625" y="514350"/>
            <a:ext cx="371475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8688E-8FAC-478B-B928-BF3DA08AC83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7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688E-8FAC-478B-B928-BF3DA08AC832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203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CBE15-7C55-62D5-EF26-CB1E276C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FE9B4-4F63-F792-EEBA-473CF2CB6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207D5-E7B8-D15B-A909-AC95956E4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734C1-E869-7A4C-E4F3-533F18570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688E-8FAC-478B-B928-BF3DA08AC832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0644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688E-8FAC-478B-B928-BF3DA08AC832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156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A395D-C626-1311-95DB-535B678E5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C7676-0CFD-B28B-8551-C048DFF12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3EAC7-FE9B-B99F-687D-EB227B17D2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77C438-F107-8234-C008-A88B100F2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688E-8FAC-478B-B928-BF3DA08AC832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7582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41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E482A-707B-4ECE-96E6-2A130F890EB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91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BB35E-DCAD-4299-A218-5441361EC46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393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16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3E6FE-0679-45B3-B8F3-F60B000E9F0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908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0" y="1600206"/>
            <a:ext cx="58610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86550" y="1600206"/>
            <a:ext cx="58610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A9694-A47C-4115-9046-BD7B839CC64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025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9" y="1535113"/>
            <a:ext cx="437858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9" y="2174875"/>
            <a:ext cx="437858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2184-B7AE-4505-B15D-AA57BDD78C3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0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F9FD9-56C4-4DBC-90E2-603240128EB3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10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2C064-36F6-499C-B705-7E47DD3CA8C7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080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66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2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DAC28-4A7E-40A2-9611-49898A179FB0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95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C16CA-3B45-4B7F-86B3-032AEE52FEF9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61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E3332-A3A2-4E44-8751-1A32AC42FE8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68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75800" y="274654"/>
            <a:ext cx="2971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400" y="274654"/>
            <a:ext cx="87503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68DD10-6121-47B0-9A90-E279B7552DF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75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66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1186-988E-4A7B-A46C-EF8E130E1EB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66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Dept of ECE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66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67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" y="4395787"/>
            <a:ext cx="495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PRESENTED BY: </a:t>
            </a: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Lakshmi Priya S  [1GA22EC124]</a:t>
            </a:r>
          </a:p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endParaRPr lang="en-US" b="1" dirty="0">
              <a:latin typeface="Aparajita" pitchFamily="34" charset="0"/>
              <a:cs typeface="Aparajita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1880" y="4514636"/>
            <a:ext cx="4824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Under The Guidance of: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Mrs. Bindu K 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Assistant professor 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Dept of ECE,GAT</a:t>
            </a:r>
          </a:p>
        </p:txBody>
      </p:sp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2057400" y="0"/>
            <a:ext cx="5867400" cy="1600200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Global Academy of Technology</a:t>
            </a:r>
            <a:br>
              <a:rPr lang="en-US" sz="4000" b="1" dirty="0"/>
            </a:b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Rajarajeshwari Nagar,Bengaluru-560098</a:t>
            </a:r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52400"/>
            <a:ext cx="1295400" cy="1066800"/>
          </a:xfrm>
          <a:prstGeom prst="rect">
            <a:avLst/>
          </a:prstGeom>
        </p:spPr>
      </p:pic>
      <p:sp>
        <p:nvSpPr>
          <p:cNvPr id="10" name="Title 6"/>
          <p:cNvSpPr txBox="1">
            <a:spLocks/>
          </p:cNvSpPr>
          <p:nvPr/>
        </p:nvSpPr>
        <p:spPr>
          <a:xfrm>
            <a:off x="533400" y="363748"/>
            <a:ext cx="8915400" cy="3077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400" b="1" kern="0" dirty="0">
              <a:latin typeface="Times New Roman"/>
              <a:ea typeface="+mj-ea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ea typeface="+mj-ea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200" b="1" kern="0" dirty="0">
              <a:latin typeface="Times New Roman"/>
              <a:ea typeface="+mj-ea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kern="0" dirty="0">
                <a:latin typeface="Times New Roman"/>
                <a:ea typeface="+mj-ea"/>
                <a:cs typeface="Times New Roman"/>
              </a:rPr>
              <a:t>Department of Electronics and Communication Engineering</a:t>
            </a:r>
            <a:endParaRPr kumimoji="0" lang="en-US" sz="3200" b="1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Times New Roman"/>
              <a:ea typeface="+mj-ea"/>
              <a:cs typeface="Times New Roman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kern="0" dirty="0">
                <a:latin typeface="Times New Roman"/>
                <a:ea typeface="+mj-ea"/>
                <a:cs typeface="Times New Roman"/>
              </a:rPr>
              <a:t>on</a:t>
            </a:r>
          </a:p>
          <a:p>
            <a:pPr lvl="0" algn="ctr"/>
            <a:r>
              <a:rPr lang="en-US" sz="2800" b="1" kern="0" dirty="0">
                <a:latin typeface="Times New Roman" pitchFamily="18" charset="0"/>
                <a:ea typeface="+mj-ea"/>
                <a:cs typeface="Times New Roman" pitchFamily="18" charset="0"/>
              </a:rPr>
              <a:t>“SMART ENERGY METER”</a:t>
            </a:r>
          </a:p>
        </p:txBody>
      </p:sp>
      <p:pic>
        <p:nvPicPr>
          <p:cNvPr id="8" name="Picture 7" descr="E:\84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52400"/>
            <a:ext cx="1067991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71600" y="304800"/>
            <a:ext cx="9906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10"/>
          <p:cNvSpPr/>
          <p:nvPr/>
        </p:nvSpPr>
        <p:spPr>
          <a:xfrm>
            <a:off x="5257800" y="5105400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C772F1-2EBD-7688-497F-2AE9273B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</p:cSld>
  <p:clrMapOvr>
    <a:masterClrMapping/>
  </p:clrMapOvr>
  <p:transition advTm="1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3400" y="607485"/>
            <a:ext cx="8524056" cy="514820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12700">
              <a:lnSpc>
                <a:spcPct val="100000"/>
              </a:lnSpc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Problem Definition</a:t>
            </a:r>
          </a:p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Objectives</a:t>
            </a:r>
          </a:p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Method of Implementation</a:t>
            </a:r>
          </a:p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Outcome</a:t>
            </a:r>
          </a:p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Advantages and Disadvantages</a:t>
            </a:r>
          </a:p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US" sz="2800" spc="-5" dirty="0">
                <a:latin typeface="Times New Roman" pitchFamily="18" charset="0"/>
                <a:cs typeface="Times New Roman" pitchFamily="18" charset="0"/>
              </a:rPr>
              <a:t>Applications</a:t>
            </a:r>
          </a:p>
          <a:p>
            <a:pPr marL="12700">
              <a:spcBef>
                <a:spcPts val="1105"/>
              </a:spcBef>
              <a:buClr>
                <a:schemeClr val="tx1"/>
              </a:buClr>
              <a:buFont typeface="Wingdings" pitchFamily="2" charset="2"/>
              <a:buChar char="v"/>
            </a:pPr>
            <a:r>
              <a:rPr lang="en-IN" sz="2800" spc="-5" dirty="0">
                <a:latin typeface="Times New Roman" pitchFamily="18" charset="0"/>
                <a:cs typeface="Times New Roman" pitchFamily="18" charset="0"/>
              </a:rPr>
              <a:t>References </a:t>
            </a:r>
            <a:endParaRPr lang="en-IN" sz="3200" spc="-5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0"/>
            <a:ext cx="8915400" cy="715962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FF27D7-DE4B-939D-E034-12E25BF93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844" y="142852"/>
            <a:ext cx="8915400" cy="1143000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0257C9-647C-CCBC-8D58-086D72AEF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6744" y="1285852"/>
            <a:ext cx="968925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Electricity is essential for daily life and needs to be used wisely.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Some areas have surplus electricity, while others face deficits.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Current energy meters fail to accurately estimate power requirements.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meters can monitor electrical parameters and energy consumption accurately.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is uploaded to a cloud platform, accessible to users for periodic monitoring.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goal is to provide accurate power consumption data and improve energy management.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6FF934-45C4-E01A-2B1D-FEF7F4B84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480" y="381756"/>
            <a:ext cx="8915400" cy="70015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spc="-5" dirty="0">
                <a:latin typeface="Times New Roman" pitchFamily="18" charset="0"/>
                <a:cs typeface="Times New Roman" pitchFamily="18" charset="0"/>
              </a:rPr>
              <a:t>LITERATURE SURVEY</a:t>
            </a:r>
            <a:br>
              <a:rPr lang="en-US" spc="-5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53CC846-BD9A-89CD-6EA0-3424FC1BC4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527116"/>
              </p:ext>
            </p:extLst>
          </p:nvPr>
        </p:nvGraphicFramePr>
        <p:xfrm>
          <a:off x="200472" y="1081906"/>
          <a:ext cx="95050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288">
                  <a:extLst>
                    <a:ext uri="{9D8B030D-6E8A-4147-A177-3AD203B41FA5}">
                      <a16:colId xmlns:a16="http://schemas.microsoft.com/office/drawing/2014/main" val="2982059461"/>
                    </a:ext>
                  </a:extLst>
                </a:gridCol>
                <a:gridCol w="1726703">
                  <a:extLst>
                    <a:ext uri="{9D8B030D-6E8A-4147-A177-3AD203B41FA5}">
                      <a16:colId xmlns:a16="http://schemas.microsoft.com/office/drawing/2014/main" val="1939423014"/>
                    </a:ext>
                  </a:extLst>
                </a:gridCol>
                <a:gridCol w="1320719">
                  <a:extLst>
                    <a:ext uri="{9D8B030D-6E8A-4147-A177-3AD203B41FA5}">
                      <a16:colId xmlns:a16="http://schemas.microsoft.com/office/drawing/2014/main" val="948959315"/>
                    </a:ext>
                  </a:extLst>
                </a:gridCol>
                <a:gridCol w="4208345">
                  <a:extLst>
                    <a:ext uri="{9D8B030D-6E8A-4147-A177-3AD203B41FA5}">
                      <a16:colId xmlns:a16="http://schemas.microsoft.com/office/drawing/2014/main" val="412623818"/>
                    </a:ext>
                  </a:extLst>
                </a:gridCol>
              </a:tblGrid>
              <a:tr h="166610"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264720"/>
                  </a:ext>
                </a:extLst>
              </a:tr>
              <a:tr h="166610"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D. BhavaniPeri </a:t>
                      </a:r>
                    </a:p>
                    <a:p>
                      <a:pPr algn="just"/>
                      <a:r>
                        <a:rPr lang="en-IN" sz="1800" b="0" i="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A.Ravi </a:t>
                      </a:r>
                    </a:p>
                    <a:p>
                      <a:pPr algn="just"/>
                      <a:r>
                        <a:rPr lang="en-IN" sz="1800" b="0" i="0" dirty="0">
                          <a:solidFill>
                            <a:srgbClr val="333333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Supriya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Design and Implementation of a Real-time IoT Solution for Smart Meter Data Analysis in Microsoft Azure</a:t>
                      </a:r>
                    </a:p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This research presents an IoT solution using Microsoft Azure to simulate smart meter data, focusing on real-time visualization and AI-based anomaly detection for spikes and dips.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623810"/>
                  </a:ext>
                </a:extLst>
              </a:tr>
              <a:tr h="1621293"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Manoj M Doddamane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Sai Sathwik P S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Somashekhar Amoji</a:t>
                      </a:r>
                    </a:p>
                    <a:p>
                      <a:pPr algn="just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Design and implementation of IOT enabled Smart</a:t>
                      </a:r>
                    </a:p>
                    <a:p>
                      <a:pPr algn="l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Energy Meter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This paper proposes an IoT-enabled smart energy meter that offers more advantages than traditional meters. The meter tracks various parameters such as power, units consumed, current, voltage frequency, power factor, and fault status.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98312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4F4338A-4A37-FA23-8D4A-3FCFF90D3E4E}"/>
              </a:ext>
            </a:extLst>
          </p:cNvPr>
          <p:cNvSpPr txBox="1"/>
          <p:nvPr/>
        </p:nvSpPr>
        <p:spPr>
          <a:xfrm>
            <a:off x="2477328" y="4164352"/>
            <a:ext cx="495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1" u="none" strike="noStrike" kern="1200" baseline="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03B054-1C04-2DCF-CD5A-9B0266D03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51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E6BA-177E-9BCA-C30D-6DE8EAE1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A296CAE-57A7-7C3A-C0C7-5764DA5C4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0537841"/>
              </p:ext>
            </p:extLst>
          </p:nvPr>
        </p:nvGraphicFramePr>
        <p:xfrm>
          <a:off x="272480" y="116633"/>
          <a:ext cx="9433048" cy="4842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>
                  <a:extLst>
                    <a:ext uri="{9D8B030D-6E8A-4147-A177-3AD203B41FA5}">
                      <a16:colId xmlns:a16="http://schemas.microsoft.com/office/drawing/2014/main" val="2982059461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193942301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948959315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412623818"/>
                    </a:ext>
                  </a:extLst>
                </a:gridCol>
              </a:tblGrid>
              <a:tr h="30185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264720"/>
                  </a:ext>
                </a:extLst>
              </a:tr>
              <a:tr h="1207400"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 Santosh Kumar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K. Suneetha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Amandeep Gill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Utilization of IoT and Smart Meters for Energy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This research paper explores how an IoT-based Smart Energy Management System (SEMS), integrated with Entrack software, effectively improves energy management by utilizing smart meters for data collection and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733854"/>
                  </a:ext>
                </a:extLst>
              </a:tr>
              <a:tr h="2739220"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Ishwarya Varadarajan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Priyadharshini M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Thanuja Babu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P.Niveditha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IoT-Based Energy Meter Analysis Using Real-Time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Data Monitoring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This research highlights the importance of energy monitoring due to rising global energy use and the need for accurate billing based on meter readings. 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983125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93FE149-2524-0E00-0225-56CC39191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692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3844" y="142852"/>
            <a:ext cx="8420100" cy="1470025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PROBLEM STATEMENT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3844" y="1571612"/>
            <a:ext cx="8763000" cy="4495800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Traditional electric meters face challenges like inaccurate billing, lack of real-time data, and limited consumer awareness, leading to inefficiencies, higher operational costs, and energy waste. Develop a Smart Electric Meter that provides real-time, accurate consumption data, improving billing accuracy, enabling energy optimization, and reducing waste for both consumers and utilities.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E28FF-0646-6C44-71EB-37CB86185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96" y="404664"/>
            <a:ext cx="7632848" cy="628968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OBJECTIVES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240"/>
            <a:ext cx="9289032" cy="6840760"/>
          </a:xfrm>
        </p:spPr>
        <p:txBody>
          <a:bodyPr>
            <a:noAutofit/>
          </a:bodyPr>
          <a:lstStyle/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1AEF75A-D42C-9C82-517E-28C1C4033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685" y="1916832"/>
            <a:ext cx="878497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rovide real-time data on energy usage.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uick response to outages.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6678A-5C20-3270-ABDF-78699B777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915400" cy="1143000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METHOD OF 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62F2CFF-74CF-293D-1805-FE89DF1E74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0472" y="934596"/>
            <a:ext cx="8856984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PZEM-004T sensor measures voltage, current, power, and energy consumption, transmitting the data to the NodeMCU ESP8266 via UART.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 NodeMCU processes and converts the raw data into readable values like watts, volts, and kWh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NodeMCU sends the processed data to the Blynk Cloud server through a Wi-Fi connection.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Real-time energy parameters (voltage, current, power, energy) are shown on the Blynk app, allowing users to track and analyze their energy usage.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AE7A1A-F04C-A5AA-B086-3622FF25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048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62"/>
          <a:stretch/>
        </p:blipFill>
        <p:spPr>
          <a:xfrm>
            <a:off x="2687795" y="1102097"/>
            <a:ext cx="4530409" cy="5248845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AD0D06-E337-A23A-A535-125FCB951CC4}"/>
              </a:ext>
            </a:extLst>
          </p:cNvPr>
          <p:cNvSpPr txBox="1"/>
          <p:nvPr/>
        </p:nvSpPr>
        <p:spPr>
          <a:xfrm>
            <a:off x="3224808" y="5929032"/>
            <a:ext cx="5399111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                Figure 1 </a:t>
            </a:r>
          </a:p>
          <a:p>
            <a:pPr marL="12700" algn="just">
              <a:spcBef>
                <a:spcPts val="105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Flow chart for smart meter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57A849-8E46-FFD3-69A9-9E9144106A21}"/>
              </a:ext>
            </a:extLst>
          </p:cNvPr>
          <p:cNvSpPr txBox="1"/>
          <p:nvPr/>
        </p:nvSpPr>
        <p:spPr>
          <a:xfrm>
            <a:off x="632520" y="122337"/>
            <a:ext cx="676281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en-IN"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Flow chart for smart meter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C07F09-19B0-88A1-D72B-5EDBDA96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1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F651E51-9F92-0826-71E3-25EBFE1CEB2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47" t="2223" r="10301" b="61184"/>
          <a:stretch/>
        </p:blipFill>
        <p:spPr bwMode="auto">
          <a:xfrm>
            <a:off x="1208584" y="1772816"/>
            <a:ext cx="7056784" cy="331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199702-8ABA-95D4-A14C-265075BEF805}"/>
              </a:ext>
            </a:extLst>
          </p:cNvPr>
          <p:cNvSpPr txBox="1"/>
          <p:nvPr/>
        </p:nvSpPr>
        <p:spPr>
          <a:xfrm>
            <a:off x="560512" y="447055"/>
            <a:ext cx="75584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en-IN" sz="4400" b="1" dirty="0">
                <a:solidFill>
                  <a:srgbClr val="000000"/>
                </a:solidFill>
                <a:latin typeface="Times New Roman"/>
                <a:cs typeface="Times New Roman"/>
              </a:rPr>
              <a:t>Block Diagram of smart meter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03754D-F66F-9C39-E610-2EC64927DEE6}"/>
              </a:ext>
            </a:extLst>
          </p:cNvPr>
          <p:cNvSpPr txBox="1"/>
          <p:nvPr/>
        </p:nvSpPr>
        <p:spPr>
          <a:xfrm>
            <a:off x="2720752" y="5537533"/>
            <a:ext cx="5182215" cy="8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                   Figure 2</a:t>
            </a:r>
          </a:p>
          <a:p>
            <a:pPr marL="12700" algn="just">
              <a:spcBef>
                <a:spcPts val="105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Block Diagram of smart meter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F12D8-85D4-1931-CA76-90D64372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043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2480" y="-315416"/>
            <a:ext cx="8420100" cy="1470025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 OUTCOME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36E1F14-5C13-B67E-A806-931C9079AC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8704" y="3276600"/>
            <a:ext cx="2816696" cy="2816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48BAC7-CBF4-4F4B-CF22-502FE9648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3" r="9292" b="5932"/>
          <a:stretch/>
        </p:blipFill>
        <p:spPr>
          <a:xfrm>
            <a:off x="560512" y="1268760"/>
            <a:ext cx="8500781" cy="45365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F93231-AF23-A88A-43BC-6421E8097868}"/>
              </a:ext>
            </a:extLst>
          </p:cNvPr>
          <p:cNvSpPr txBox="1"/>
          <p:nvPr/>
        </p:nvSpPr>
        <p:spPr>
          <a:xfrm>
            <a:off x="3368824" y="5992287"/>
            <a:ext cx="4074385" cy="8438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 algn="just">
              <a:spcBef>
                <a:spcPts val="105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            Figure 3</a:t>
            </a:r>
          </a:p>
          <a:p>
            <a:pPr marL="12700" algn="just">
              <a:spcBef>
                <a:spcPts val="105"/>
              </a:spcBef>
            </a:pPr>
            <a:r>
              <a:rPr lang="en-IN" sz="2400" b="1" dirty="0">
                <a:solidFill>
                  <a:srgbClr val="000000"/>
                </a:solidFill>
                <a:latin typeface="Times New Roman"/>
                <a:cs typeface="Times New Roman"/>
              </a:rPr>
              <a:t>Screen shot of data obtained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DE52A-731F-425B-B0F9-38A089E9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775" y="908720"/>
            <a:ext cx="9228727" cy="55172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Access.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Renewable Energy.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Benefits.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0874C24-19BC-5089-B554-55ABAA2A4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148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Internet.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Dependency.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ECE2F-9D14-FDE8-8FD3-8CED1740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566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43744" y="116632"/>
            <a:ext cx="8915400" cy="11430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496" y="1259632"/>
            <a:ext cx="89154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•Residential energy monitoring.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•Industrial energy management.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•Smart grid systems.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•Renewable energy integration.</a:t>
            </a:r>
          </a:p>
          <a:p>
            <a:pPr marL="0" indent="0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•Real-time energy billing	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932E9-3B47-42F7-80BD-028CBC11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49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68471-380A-B378-8381-0CA2173B8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-243408"/>
            <a:ext cx="8915400" cy="1143000"/>
          </a:xfrm>
        </p:spPr>
        <p:txBody>
          <a:bodyPr/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DD161-41FE-FD54-08F4-15D32FEFB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64" y="665312"/>
            <a:ext cx="9649072" cy="6192688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S. D. BhavaniPeri, A. Ravi and M. Supriya, "Design and Implementation of a Real-time IoT Solution for Smart Meter Data Analysis in Microsoft Azure,"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 15th International Conference on Computing Communication and Networking Technologies (ICCCNT)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Kamand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India, 2024</a:t>
            </a:r>
          </a:p>
          <a:p>
            <a:pPr algn="just"/>
            <a:endParaRPr lang="en-IN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[2]M. M. </a:t>
            </a:r>
            <a:r>
              <a:rPr lang="en-IN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Doddamane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S. P. S, S. </a:t>
            </a:r>
            <a:r>
              <a:rPr lang="en-IN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Amoji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V. M. G and G. H. Reddy, "Design and Implementation of IOT Enabled Smart Energy Meter,"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 7th International Conference on Design Innovation for 3 Cs Compute Communicate Control (ICDI3C)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Karnataka, India, 2023.</a:t>
            </a:r>
          </a:p>
          <a:p>
            <a:pPr algn="just"/>
            <a:endParaRPr lang="en-IN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[3]S. Kumar, K. </a:t>
            </a:r>
            <a:r>
              <a:rPr lang="en-IN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Suneetha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A. Gill, "Utilization of </a:t>
            </a:r>
            <a:r>
              <a:rPr lang="en-IN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loT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Smart Meters for Energy Management,"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2023 International Conference on Power Energy, Environment &amp; Intelligent Control (PEEIC)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Greater Noida, India, 2023</a:t>
            </a:r>
          </a:p>
          <a:p>
            <a:pPr algn="just"/>
            <a:endParaRPr lang="en-IN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Varadarajan, T. Babu, P. M and P. </a:t>
            </a:r>
            <a:r>
              <a:rPr lang="en-IN" sz="20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Nivedhitha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"IoT-Based Energy Meter Analysis Using Real-Time Data Monitoring,"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2022 1st International Conference on Computational Science and Technology (ICCST)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CHENNAI, India, 2022.</a:t>
            </a:r>
          </a:p>
          <a:p>
            <a:pPr algn="just"/>
            <a:endParaRPr lang="en-IN" sz="2000" dirty="0">
              <a:solidFill>
                <a:srgbClr val="33333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[5] G. Mehta, R. Khanam and V. K. Yadav, "A Novel IoT based Smart Energy Meter for Residential Energy Management in Smart Grid Infrastructure," </a:t>
            </a:r>
            <a:r>
              <a:rPr lang="en-IN" sz="20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2021 8th International Conference on Signal Processing and Integrated Networks (SPIN)</a:t>
            </a:r>
            <a:r>
              <a:rPr lang="en-IN" sz="20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Noida, India, 2021.</a:t>
            </a:r>
          </a:p>
          <a:p>
            <a:pPr algn="just"/>
            <a:endParaRPr lang="en-IN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8997FF-5770-CB87-D128-9062B2A76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480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60CC2-5AED-33A7-0AF9-D22CE83A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28193-2124-3254-8782-6186160EC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470" y="580120"/>
            <a:ext cx="9541060" cy="569776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R. Mishra, A. Pandey and J. </a:t>
            </a:r>
            <a:r>
              <a:rPr lang="en-IN" sz="22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Savariya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"Application of Internet of Things: Last meter smart grid and smart energy efficient system," </a:t>
            </a:r>
            <a:r>
              <a:rPr lang="en-IN" sz="22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2020 First International Conference on Power, Control and Computing Technologies (ICPC2T)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Raipur, India, 2020.</a:t>
            </a:r>
          </a:p>
          <a:p>
            <a:pPr algn="just"/>
            <a:endParaRPr lang="en-IN" sz="22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[7]M. M. Haque, Z. H. Choudhury and F. M. Alamgir, "IoT Based Smart Energy Metering System for Power Consumers," </a:t>
            </a:r>
            <a:r>
              <a:rPr lang="en-IN" sz="22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2019 2nd International Conference on Innovation in Engineering and Technology (ICIET)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Dhaka, Bangladesh, 2019.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S. Saha, S. Mondal, A. Saha and P. </a:t>
            </a:r>
            <a:r>
              <a:rPr lang="en-IN" sz="22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Purkait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"Design and Implementation of IoT Based Smart Energy Meter," </a:t>
            </a:r>
            <a:r>
              <a:rPr lang="en-IN" sz="22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2018 IEEE Applied Signal Processing Conference (ASPCON)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Kolkata, India, 2018.</a:t>
            </a:r>
          </a:p>
          <a:p>
            <a:pPr algn="just"/>
            <a:endParaRPr lang="en-IN" sz="22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[9]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D. B. </a:t>
            </a:r>
            <a:r>
              <a:rPr lang="en-IN" sz="22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Avancini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G. B. Martins, R. A. L. Rabelo, P. Solic and J. J. P. C. Rodrigues, "A Flexible IoT Energy Monitoring Solution," </a:t>
            </a:r>
            <a:r>
              <a:rPr lang="en-IN" sz="22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2018 3rd International Conference on Smart and Sustainable Technologies (</a:t>
            </a:r>
            <a:r>
              <a:rPr lang="en-IN" sz="2200" b="0" i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SpliTech</a:t>
            </a:r>
            <a:r>
              <a:rPr lang="en-IN" sz="22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Split, Croatia, 2018.</a:t>
            </a:r>
          </a:p>
          <a:p>
            <a:pPr algn="just"/>
            <a:endParaRPr lang="en-IN" sz="22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22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M. </a:t>
            </a:r>
            <a:r>
              <a:rPr lang="en-IN" sz="22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Aboelmaged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Y. Abdelghani and M. A. Abd El </a:t>
            </a:r>
            <a:r>
              <a:rPr lang="en-IN" sz="2200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Ghany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"Wireless IoT based metering system for energy efficient smart cites," </a:t>
            </a:r>
            <a:r>
              <a:rPr lang="en-IN" sz="2200" b="0" i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2017 29th International Conference on Microelectronics (ICM)</a:t>
            </a:r>
            <a:r>
              <a:rPr lang="en-IN" sz="2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Beirut, Lebanon, 2017.</a:t>
            </a:r>
          </a:p>
          <a:p>
            <a:pPr algn="just"/>
            <a:endParaRPr lang="en-IN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462A8F-C852-6D18-DA17-8436FB2D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504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438400"/>
            <a:ext cx="8915400" cy="1143000"/>
          </a:xfrm>
        </p:spPr>
        <p:txBody>
          <a:bodyPr>
            <a:normAutofit/>
          </a:bodyPr>
          <a:lstStyle/>
          <a:p>
            <a:r>
              <a:rPr lang="en-US" sz="6600" b="1" dirty="0">
                <a:latin typeface="Times New Roman" pitchFamily="18" charset="0"/>
                <a:cs typeface="Times New Roman" pitchFamily="18" charset="0"/>
              </a:rPr>
              <a:t>THANK YOU  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90CE70-42F3-AE69-814C-4D8EDD94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 of ECE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12700">
          <a:spcBef>
            <a:spcPts val="105"/>
          </a:spcBef>
          <a:defRPr sz="2400" b="1" dirty="0" smtClean="0">
            <a:solidFill>
              <a:srgbClr val="000000"/>
            </a:solidFill>
            <a:latin typeface="Times New Roman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2364</TotalTime>
  <Words>1199</Words>
  <Application>Microsoft Office PowerPoint</Application>
  <PresentationFormat>A4 Paper (210x297 mm)</PresentationFormat>
  <Paragraphs>162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Aparajita</vt:lpstr>
      <vt:lpstr>Arial</vt:lpstr>
      <vt:lpstr>Calibri</vt:lpstr>
      <vt:lpstr>Times New Roman</vt:lpstr>
      <vt:lpstr>Wingdings</vt:lpstr>
      <vt:lpstr>Office Theme</vt:lpstr>
      <vt:lpstr>Global Academy of Technology Rajarajeshwari Nagar,Bengaluru-560098</vt:lpstr>
      <vt:lpstr>CONTENTS</vt:lpstr>
      <vt:lpstr>INTRODUCTION</vt:lpstr>
      <vt:lpstr>LITERATURE SURVEY </vt:lpstr>
      <vt:lpstr>PowerPoint Presentation</vt:lpstr>
      <vt:lpstr>PROBLEM STATEMENT</vt:lpstr>
      <vt:lpstr>OBJECTIVES</vt:lpstr>
      <vt:lpstr>  METHOD OF IMPLEMENTATION</vt:lpstr>
      <vt:lpstr>PowerPoint Presentation</vt:lpstr>
      <vt:lpstr>PowerPoint Presentation</vt:lpstr>
      <vt:lpstr> OUTCOME</vt:lpstr>
      <vt:lpstr>PowerPoint Presentation</vt:lpstr>
      <vt:lpstr>Disadvantages</vt:lpstr>
      <vt:lpstr>APPLICATIONS</vt:lpstr>
      <vt:lpstr>References</vt:lpstr>
      <vt:lpstr>PowerPoint Presentation</vt:lpstr>
      <vt:lpstr>THANK YOU    </vt:lpstr>
    </vt:vector>
  </TitlesOfParts>
  <Company>Technofly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ON</dc:title>
  <dc:creator>Technofly Solutions</dc:creator>
  <cp:lastModifiedBy>Monisha S</cp:lastModifiedBy>
  <cp:revision>372</cp:revision>
  <dcterms:created xsi:type="dcterms:W3CDTF">2018-03-07T11:29:33Z</dcterms:created>
  <dcterms:modified xsi:type="dcterms:W3CDTF">2026-03-20T13:45:11Z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2016-03-21T00:00:00Z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2018-03-07T00:00:00Z</vt:filetime>
  </property>
</Properties>
</file>